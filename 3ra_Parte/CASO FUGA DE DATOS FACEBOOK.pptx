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52" d="100"/>
          <a:sy n="52" d="100"/>
        </p:scale>
        <p:origin x="84" y="1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FBDEF-30CA-6A13-54EE-49B24CDF8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5B2AE1-4EB4-2211-693E-26DCCB62C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58F0F3-CA2B-5EDC-174A-43CABA9F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F09569-39A7-0427-CCDD-C23EC99F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B39859-2C25-6FD1-9342-9FDE13B9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189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67D4A-F447-BB91-B8FA-F73351C4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D35CBA-C3C7-64E3-7191-77038AB49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FDD2AC-E4A6-11CA-B3EA-6A408A24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4AC48-6E6D-AD35-F8ED-04AF555B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2AA227-E7C7-2A1F-A9FD-8523051F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829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517A0-F314-31A6-189E-3B4E8430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8C0F9E-4AF7-98BC-1C4F-48647F48F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BEBBE4-2334-B17E-71A6-A0906E75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622D68-C4D1-FE13-1C89-F20C0AFC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3D31A9-F392-C9EB-9C5A-54775F94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863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AECF4-47D5-7A44-71F2-35D6B8A2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4370E4-5598-1E2F-A749-15C8241ED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8D7068-4A6A-A661-ECD3-5B106DFD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C84326-6643-C6D2-B6AA-2D2D3E02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508390-50C7-3DBC-8610-BBEAA368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989032-EB43-4DF7-6923-14401886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710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53F4D-424B-7586-0767-FD968EC6E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83B384-EEC8-BED0-2AF0-DFA8AABB3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5BEEC1-6B05-4DE7-200B-CBB0CB2A3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8C4BA8-329A-6A32-5D86-286573368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EAE9BE-76E7-2125-0309-FC7055D3A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DDF94D0-EF8F-540B-8A14-037A9CEF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91DC643-8D29-1277-AAEF-5418098D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3C8E7A-DFA4-769D-FB64-3B97E283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037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357C7-2B42-7CC6-76C9-140BAC3A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76F983-8C96-842E-593D-945FB144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56F2F2-6FDA-EABF-5428-E6947565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BC9737-A5B0-66C1-D50E-A4CD00BA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9802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CFE7DB9-0584-4FC6-CEBA-E7DE2D30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16EE86-1B1A-0C4A-E13C-07DB959F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A07820-D81B-39C2-1371-738172D8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7385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B7B8-0EBE-CED3-EB4C-FEBDE229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BAF9A7-5323-BA5C-9472-83A7965D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557941-813C-58D3-6B9D-9ECC8CFF2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5B866A-C89C-0375-2474-442F26EA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69D379-A8D4-D90B-9730-BAEAFEF07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9A963C-BFD6-CC22-4716-6A1072DE1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76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553BA-1EAA-4CF3-8B01-10EFAD8A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C11D609-7A16-2948-44C0-652BFE57C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AC286F-8FC9-5CD7-59CB-A2124D7F7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A7BA11-8733-7014-B081-7CA9674D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0F8A0F-164E-9E54-7FF4-34BBE83F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582A9F-7DB4-B821-F85B-54C4E0FC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3761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DA4BF-5F1F-2069-32F8-978261D5E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37E5F9-8AED-FEB6-1A06-2D7CE2F7A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4F248B-2196-CFB2-F684-1958ACE6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B1051B-E456-A644-E8DB-0CDA8D42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E02760-7DFD-8F7F-2A83-DF2705EB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654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0DB3FD-FB7A-03CE-2DC5-6EC0DFB75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5F5C00-51C4-4EF2-4222-941C829C8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0FB97A-A5E0-B482-0812-0700E60C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B35113-7220-6889-FB7F-9F544033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0DDC31-9A86-59C7-7FD7-2650BC522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3462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296C19-C5AB-32B3-B81B-FC7A6B07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73F991-9938-C365-E2D7-D43958226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3B104A-EF65-B766-2443-10ED131B4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AB73C-2F12-41E1-841C-F228E7C40971}" type="datetimeFigureOut">
              <a:rPr lang="es-PE" smtClean="0"/>
              <a:t>12/06/2026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B180DF-EB89-10ED-BA5F-4F35E1D0C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DBCC81-F32E-2586-AB52-80895C395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95BFE-13F5-40DD-8037-2C9EFCC8B46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726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57C38-FC57-AC79-4CB0-4DF96DB91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CASO FUGA DE DATOS FACEBOOK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F23D0D-B833-A51E-A08D-A02371B4B7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0631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2C6D7F-96CF-2F75-5093-24BF6413B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25" y="638031"/>
            <a:ext cx="11665550" cy="558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5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E408-7AEF-C1E6-EC30-6BD8D7B71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6C17CA-F9A7-4FED-EE9C-6CE48351A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0" y="787264"/>
            <a:ext cx="11068619" cy="528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2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2F862-B9D6-F468-5B19-4F83D9AF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1. ¿Qué tipo de riesgo se materializó?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EF1A3B-27F0-BE96-49CC-11235EA8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s-PE" dirty="0"/>
              <a:t>Se materializó principalmente un </a:t>
            </a:r>
            <a:r>
              <a:rPr lang="es-PE" b="1" dirty="0"/>
              <a:t>riesgo de exposición de información sensible por terceros</a:t>
            </a:r>
            <a:r>
              <a:rPr lang="es-PE" dirty="0"/>
              <a:t>, asociado a una </a:t>
            </a:r>
            <a:r>
              <a:rPr lang="es-PE" b="1" dirty="0"/>
              <a:t>mala configuración de servidores externos</a:t>
            </a:r>
            <a:r>
              <a:rPr lang="es-PE" dirty="0"/>
              <a:t> y a controles insuficientes sobre datos compartidos fuera del entorno directo de Facebook.</a:t>
            </a:r>
          </a:p>
          <a:p>
            <a:pPr algn="just"/>
            <a:r>
              <a:rPr lang="es-PE" dirty="0"/>
              <a:t>También se pueden identificar estos riesgos:</a:t>
            </a:r>
          </a:p>
          <a:p>
            <a:pPr algn="just"/>
            <a:r>
              <a:rPr lang="es-PE" b="1" dirty="0"/>
              <a:t>Riesgo de confidencialidad:</a:t>
            </a:r>
            <a:r>
              <a:rPr lang="es-PE" dirty="0"/>
              <a:t> porque datos de usuarios quedaron expuestos sin autorización.</a:t>
            </a:r>
          </a:p>
          <a:p>
            <a:pPr algn="just"/>
            <a:r>
              <a:rPr lang="es-PE" b="1" dirty="0"/>
              <a:t>Riesgo de terceros:</a:t>
            </a:r>
            <a:r>
              <a:rPr lang="es-PE" dirty="0"/>
              <a:t> porque la información estaba almacenada en servidores administrados por proveedores o aplicaciones externas.</a:t>
            </a:r>
          </a:p>
          <a:p>
            <a:pPr algn="just"/>
            <a:r>
              <a:rPr lang="es-PE" b="1" dirty="0"/>
              <a:t>Riesgo reputacional:</a:t>
            </a:r>
            <a:r>
              <a:rPr lang="es-PE" dirty="0"/>
              <a:t> porque afectó la confianza de usuarios, reguladores y socios comerciales.</a:t>
            </a:r>
          </a:p>
          <a:p>
            <a:pPr algn="just"/>
            <a:r>
              <a:rPr lang="es-PE" b="1" dirty="0"/>
              <a:t>Riesgo legal y regulatorio:</a:t>
            </a:r>
            <a:r>
              <a:rPr lang="es-PE" dirty="0"/>
              <a:t> porque la exposición de datos personales puede generar investigaciones, sanciones y multas.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06210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4FFC7-D174-EE43-EB11-D10A8DE1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27259-0794-4E66-8C84-05639CA15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2. ¿El riesgo fue tratado adecuadamente?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81DEC-E9B2-5DB6-9D87-CC371C321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PE" dirty="0"/>
              <a:t>No fue tratado adecuadamente. Aunque Facebook tenía una gran capacidad tecnológica, el caso demuestra que existían </a:t>
            </a:r>
            <a:r>
              <a:rPr lang="es-PE" b="1" dirty="0"/>
              <a:t>controles insuficientes sobre la gestión de datos compartidos con terceros</a:t>
            </a:r>
            <a:r>
              <a:rPr lang="es-PE" dirty="0"/>
              <a:t>.</a:t>
            </a:r>
          </a:p>
          <a:p>
            <a:r>
              <a:rPr lang="es-PE" dirty="0"/>
              <a:t>El problema no solo fue técnico, sino también de </a:t>
            </a:r>
            <a:r>
              <a:rPr lang="es-PE" b="1" dirty="0"/>
              <a:t>gobernanza de seguridad</a:t>
            </a:r>
            <a:r>
              <a:rPr lang="es-PE" dirty="0"/>
              <a:t>. La empresa no habría aplicado controles efectivos para verificar cómo los terceros almacenaban, protegían o eliminaban los datos de usuarios.</a:t>
            </a:r>
          </a:p>
          <a:p>
            <a:r>
              <a:rPr lang="es-PE" dirty="0"/>
              <a:t>Una respuesta adecuada debió incluir:</a:t>
            </a:r>
          </a:p>
          <a:p>
            <a:pPr lvl="1"/>
            <a:r>
              <a:rPr lang="es-PE" dirty="0"/>
              <a:t>Evaluación previa de una evaluación de riesgos de seguridad a terceros. </a:t>
            </a:r>
          </a:p>
          <a:p>
            <a:pPr lvl="1"/>
            <a:r>
              <a:rPr lang="es-PE" dirty="0"/>
              <a:t>Monitoreo continuo de servidores externos. </a:t>
            </a:r>
          </a:p>
          <a:p>
            <a:pPr lvl="1"/>
            <a:r>
              <a:rPr lang="es-PE" dirty="0"/>
              <a:t>Restricción de acceso a datos personales. </a:t>
            </a:r>
          </a:p>
          <a:p>
            <a:pPr lvl="1"/>
            <a:r>
              <a:rPr lang="es-PE" dirty="0"/>
              <a:t>Auditorías periódicas. </a:t>
            </a:r>
          </a:p>
          <a:p>
            <a:pPr lvl="1"/>
            <a:r>
              <a:rPr lang="es-PE" dirty="0"/>
              <a:t>Políticas claras de retención y eliminación de datos. </a:t>
            </a:r>
          </a:p>
          <a:p>
            <a:pPr lvl="1"/>
            <a:r>
              <a:rPr lang="es-PE" dirty="0"/>
              <a:t>Detección temprana de exposiciones públicas. </a:t>
            </a:r>
          </a:p>
          <a:p>
            <a:pPr lvl="1"/>
            <a:r>
              <a:rPr lang="es-PE" dirty="0"/>
              <a:t>Por tanto, el riesgo fue </a:t>
            </a:r>
            <a:r>
              <a:rPr lang="es-PE" b="1" dirty="0"/>
              <a:t>subestimado o tratado de forma parcial</a:t>
            </a:r>
            <a:r>
              <a:rPr lang="es-PE" dirty="0"/>
              <a:t>, especialmente en la fase de prevención y supervisión.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90983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87D78-BF3E-EDE9-7C21-418A22ED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E243B-CBF7-8F9C-A6C3-D4C4BD04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3. ¿Qué controles faltaron?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DF1A8-092B-9DEB-2338-967DCB105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s-PE" sz="7200" b="1" dirty="0"/>
              <a:t>Control de gestión de terceros:</a:t>
            </a:r>
            <a:br>
              <a:rPr lang="es-PE" sz="7200" dirty="0"/>
            </a:br>
            <a:r>
              <a:rPr lang="es-PE" sz="7200" dirty="0"/>
              <a:t>Facebook debió evaluar y supervisar a las empresas o aplicaciones que tenían acceso a datos de usuarios.</a:t>
            </a:r>
          </a:p>
          <a:p>
            <a:r>
              <a:rPr lang="es-PE" sz="7200" b="1" dirty="0"/>
              <a:t>Control de configuración segura:</a:t>
            </a:r>
            <a:br>
              <a:rPr lang="es-PE" sz="7200" dirty="0"/>
            </a:br>
            <a:r>
              <a:rPr lang="es-PE" sz="7200" dirty="0"/>
              <a:t>Los servidores donde se almacenaban los datos debieron estar correctamente configurados, evitando accesos públicos no autorizados.</a:t>
            </a:r>
          </a:p>
          <a:p>
            <a:r>
              <a:rPr lang="es-PE" sz="7200" b="1" dirty="0"/>
              <a:t>Control de acceso:</a:t>
            </a:r>
            <a:br>
              <a:rPr lang="es-PE" sz="7200" dirty="0"/>
            </a:br>
            <a:r>
              <a:rPr lang="es-PE" sz="7200" dirty="0"/>
              <a:t>Solo personal autorizado o sistemas aprobados debían acceder a la información.</a:t>
            </a:r>
          </a:p>
          <a:p>
            <a:r>
              <a:rPr lang="es-PE" sz="7200" b="1" dirty="0"/>
              <a:t>Cifrado de datos:</a:t>
            </a:r>
            <a:br>
              <a:rPr lang="es-PE" sz="7200" dirty="0"/>
            </a:br>
            <a:r>
              <a:rPr lang="es-PE" sz="7200" dirty="0"/>
              <a:t>Los datos almacenados debieron estar cifrados para reducir el impacto en caso de exposición.</a:t>
            </a:r>
          </a:p>
          <a:p>
            <a:r>
              <a:rPr lang="es-PE" sz="7200" b="1" dirty="0"/>
              <a:t>Monitoreo y detección:</a:t>
            </a:r>
            <a:br>
              <a:rPr lang="es-PE" sz="7200" dirty="0"/>
            </a:br>
            <a:r>
              <a:rPr lang="es-PE" sz="7200" dirty="0"/>
              <a:t>Debieron existir herramientas para detectar repositorios, bases de datos o servidores expuestos públicamente.</a:t>
            </a:r>
          </a:p>
          <a:p>
            <a:r>
              <a:rPr lang="es-PE" sz="7200" b="1" dirty="0"/>
              <a:t>Gestión de datos compartidos:</a:t>
            </a:r>
            <a:br>
              <a:rPr lang="es-PE" sz="7200" dirty="0"/>
            </a:br>
            <a:r>
              <a:rPr lang="es-PE" sz="7200" dirty="0"/>
              <a:t>Debió existir un control estricto sobre qué datos se compartían, con quién, por cuánto tiempo y bajo qué condiciones.</a:t>
            </a:r>
          </a:p>
          <a:p>
            <a:r>
              <a:rPr lang="es-PE" sz="7200" b="1" dirty="0"/>
              <a:t>Auditorías periódicas:</a:t>
            </a:r>
            <a:br>
              <a:rPr lang="es-PE" sz="7200" dirty="0"/>
            </a:br>
            <a:r>
              <a:rPr lang="es-PE" sz="7200" dirty="0"/>
              <a:t>Facebook debió auditar a sus terceros para verificar el cumplimiento de políticas de seguridad y privacidad.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39696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5793A-CD86-61C4-4DBF-9BC6A08E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F4100-AC8C-B813-1898-D1142AA3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4. ¿Qué controles de ISO 27001 o NIST 800-53 hubieran ayudado?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E51091-494B-1BFB-BCD8-9079055E1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s-PE" sz="7200" b="1" dirty="0"/>
              <a:t>Control de gestión de terceros:</a:t>
            </a:r>
            <a:br>
              <a:rPr lang="es-PE" sz="7200" dirty="0"/>
            </a:br>
            <a:r>
              <a:rPr lang="es-PE" sz="7200" dirty="0"/>
              <a:t>Facebook debió evaluar y supervisar a las empresas o aplicaciones que tenían acceso a datos de usuarios.</a:t>
            </a:r>
          </a:p>
          <a:p>
            <a:r>
              <a:rPr lang="es-PE" sz="7200" b="1" dirty="0"/>
              <a:t>Control de configuración segura:</a:t>
            </a:r>
            <a:br>
              <a:rPr lang="es-PE" sz="7200" dirty="0"/>
            </a:br>
            <a:r>
              <a:rPr lang="es-PE" sz="7200" dirty="0"/>
              <a:t>Los servidores donde se almacenaban los datos debieron estar correctamente configurados, evitando accesos públicos no autorizados.</a:t>
            </a:r>
          </a:p>
          <a:p>
            <a:r>
              <a:rPr lang="es-PE" sz="7200" b="1" dirty="0"/>
              <a:t>Control de acceso:</a:t>
            </a:r>
            <a:br>
              <a:rPr lang="es-PE" sz="7200" dirty="0"/>
            </a:br>
            <a:r>
              <a:rPr lang="es-PE" sz="7200" dirty="0"/>
              <a:t>Solo personal autorizado o sistemas aprobados debían acceder a la información.</a:t>
            </a:r>
          </a:p>
          <a:p>
            <a:r>
              <a:rPr lang="es-PE" sz="7200" b="1" dirty="0"/>
              <a:t>Cifrado de datos:</a:t>
            </a:r>
            <a:br>
              <a:rPr lang="es-PE" sz="7200" dirty="0"/>
            </a:br>
            <a:r>
              <a:rPr lang="es-PE" sz="7200" dirty="0"/>
              <a:t>Los datos almacenados debieron estar cifrados para reducir el impacto en caso de exposición.</a:t>
            </a:r>
          </a:p>
          <a:p>
            <a:r>
              <a:rPr lang="es-PE" sz="7200" b="1" dirty="0"/>
              <a:t>Monitoreo y detección:</a:t>
            </a:r>
            <a:br>
              <a:rPr lang="es-PE" sz="7200" dirty="0"/>
            </a:br>
            <a:r>
              <a:rPr lang="es-PE" sz="7200" dirty="0"/>
              <a:t>Debieron existir herramientas para detectar repositorios, bases de datos o servidores expuestos públicamente.</a:t>
            </a:r>
          </a:p>
          <a:p>
            <a:r>
              <a:rPr lang="es-PE" sz="7200" b="1" dirty="0"/>
              <a:t>Gestión de datos compartidos:</a:t>
            </a:r>
            <a:br>
              <a:rPr lang="es-PE" sz="7200" dirty="0"/>
            </a:br>
            <a:r>
              <a:rPr lang="es-PE" sz="7200" dirty="0"/>
              <a:t>Debió existir un control estricto sobre qué datos se compartían, con quién, por cuánto tiempo y bajo qué condiciones.</a:t>
            </a:r>
          </a:p>
          <a:p>
            <a:r>
              <a:rPr lang="es-PE" sz="7200" b="1" dirty="0"/>
              <a:t>Auditorías periódicas:</a:t>
            </a:r>
            <a:br>
              <a:rPr lang="es-PE" sz="7200" dirty="0"/>
            </a:br>
            <a:r>
              <a:rPr lang="es-PE" sz="7200" dirty="0"/>
              <a:t>Facebook debió auditar a sus terceros para verificar el cumplimiento de políticas de seguridad y privacidad.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18439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598</Words>
  <Application>Microsoft Office PowerPoint</Application>
  <PresentationFormat>Panorámica</PresentationFormat>
  <Paragraphs>35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CASO FUGA DE DATOS FACEBOOK</vt:lpstr>
      <vt:lpstr>Presentación de PowerPoint</vt:lpstr>
      <vt:lpstr>Presentación de PowerPoint</vt:lpstr>
      <vt:lpstr>1. ¿Qué tipo de riesgo se materializó?</vt:lpstr>
      <vt:lpstr>2. ¿El riesgo fue tratado adecuadamente?</vt:lpstr>
      <vt:lpstr>3. ¿Qué controles faltaron?</vt:lpstr>
      <vt:lpstr>4. ¿Qué controles de ISO 27001 o NIST 800-53 hubieran ayudado?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edgardo cajusol mio</dc:creator>
  <cp:lastModifiedBy>christian edgardo cajusol mio</cp:lastModifiedBy>
  <cp:revision>1</cp:revision>
  <dcterms:created xsi:type="dcterms:W3CDTF">2026-06-13T01:36:14Z</dcterms:created>
  <dcterms:modified xsi:type="dcterms:W3CDTF">2026-06-13T02:24:07Z</dcterms:modified>
</cp:coreProperties>
</file>